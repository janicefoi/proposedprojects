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media/image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08D4A4-8621-4168-A447-29875E5E31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-905040"/>
            <a:ext cx="6120" cy="774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8C8346-4764-430B-B9B3-6587EB3FD6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61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07C2FC-BC77-444E-B03D-1012A047DD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49B7C2-4CBE-4D94-8806-B1845CE26F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87E978-ECF7-4D75-B179-2691B67689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68400" cy="437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DB2D11-EC41-4A2F-BC34-2395252ACA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504000" y="304272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1CEBB5-1176-45AF-A2CE-029C0ECFE2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7240" y="304272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CF8D13-CB9F-4A8E-9FA5-61BD4351EE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504000" y="3042720"/>
            <a:ext cx="61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3C5713-6BB8-4B71-83C3-9471E06FE0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61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04000" y="3042720"/>
            <a:ext cx="61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55265D-37FD-4853-833E-3A8A684D6B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504000" y="304272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07240" y="304272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4481EB-89F2-4EC1-B7F9-ECC0CE3E80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506160" y="132660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508680" y="132660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504000" y="304272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506160" y="304272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508680" y="304272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5FDD79-C89D-4E10-853A-1DD7D118AED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147F7E1-5EE8-489E-AE8B-71647BC5F8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504000" y="-905040"/>
            <a:ext cx="6120" cy="774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BFB3127-A6B6-46AD-B358-0362C4132B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61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22D78B-83DA-43BE-9A1A-892E1D2EBE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D0DFC2D-DAA8-409F-8E9D-DE55F4324A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886A46D-83F4-4476-8491-C9042A6490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68400" cy="437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A2B832A-605A-4B03-B18C-1BD678953F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/>
          </p:nvPr>
        </p:nvSpPr>
        <p:spPr>
          <a:xfrm>
            <a:off x="504000" y="304272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3EBDD9B-3F3D-4B55-A03D-0C3A07F9BD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507240" y="304272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4771CBD-1DD5-4460-BDF6-89CA94C212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504000" y="3042720"/>
            <a:ext cx="61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0AB1333-6F9F-4FD3-8B4D-D400955DDA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61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04000" y="3042720"/>
            <a:ext cx="61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3FD8531-B0B8-47BA-919F-EF81C2FEDF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504000" y="304272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507240" y="304272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DC7D3B4-AF16-4B3F-872C-56229A0033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06160" y="132660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08680" y="132660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04000" y="304272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/>
          </p:nvPr>
        </p:nvSpPr>
        <p:spPr>
          <a:xfrm>
            <a:off x="506160" y="304272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/>
          </p:nvPr>
        </p:nvSpPr>
        <p:spPr>
          <a:xfrm>
            <a:off x="508680" y="304272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460B54A-5C36-4F5E-A83D-491B91A7A71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F2018CE-051F-4D02-A0AA-41D9A7D413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504000" y="-905040"/>
            <a:ext cx="6120" cy="774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E44332E-59E3-41A5-9FA2-B89F622474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61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80F586E-68E9-4CBB-8EB9-38D007B0C5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6B59E8F-EBE2-4119-B157-A441DB5584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91AD4F7-7303-409D-A2A4-F0146FA85B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68400" cy="437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86CB628-C755-4B44-BBC3-D705B15C4E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504000" y="304272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031841F-E9D6-41E2-9F24-F7C33AC43F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507240" y="304272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EC40133-9DED-4B41-B6DB-ED70228DDA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504000" y="3042720"/>
            <a:ext cx="61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ADC24FF-EAE9-47D9-8028-7DE40D2BDA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61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504000" y="3042720"/>
            <a:ext cx="61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D5103A8-1D21-4C76-BD1A-EBC8144CE4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507240" y="132660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504000" y="304272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507240" y="3042720"/>
            <a:ext cx="28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55B5FDE-C8EA-4735-AD0B-517B4EB5E3F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506160" y="132660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508680" y="132660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504000" y="304272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/>
          </p:nvPr>
        </p:nvSpPr>
        <p:spPr>
          <a:xfrm>
            <a:off x="506160" y="304272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/>
          </p:nvPr>
        </p:nvSpPr>
        <p:spPr>
          <a:xfrm>
            <a:off x="508680" y="3042720"/>
            <a:ext cx="180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0000"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8665639-FF9E-46C4-8E36-2D964946DCE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3780000"/>
            <a:ext cx="10073880" cy="188388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16200000" dist="36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fr-FR" sz="2200" spc="-1" strike="noStrike">
              <a:solidFill>
                <a:srgbClr val="000000"/>
              </a:solidFill>
              <a:latin typeface="Source Sans Pro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ftr" idx="1"/>
          </p:nvPr>
        </p:nvSpPr>
        <p:spPr>
          <a:xfrm>
            <a:off x="3420000" y="5130000"/>
            <a:ext cx="3233880" cy="443880"/>
          </a:xfrm>
          <a:prstGeom prst="rect">
            <a:avLst/>
          </a:prstGeom>
          <a:noFill/>
          <a:ln w="0">
            <a:solidFill>
              <a:srgbClr val="808080"/>
            </a:solidFill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2400" spc="-1" strike="noStrike">
                <a:solidFill>
                  <a:srgbClr val="dbf5f9"/>
                </a:solidFill>
                <a:latin typeface="Source Sans Pro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dbf5f9"/>
                </a:solidFill>
                <a:latin typeface="Source Sans Pro"/>
              </a:rPr>
              <a:t> </a:t>
            </a:r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7200000" y="5130000"/>
            <a:ext cx="2333880" cy="443880"/>
          </a:xfrm>
          <a:prstGeom prst="rect">
            <a:avLst/>
          </a:prstGeom>
          <a:noFill/>
          <a:ln w="0">
            <a:solidFill>
              <a:srgbClr val="808080"/>
            </a:solidFill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2400" spc="-1" strike="noStrike">
                <a:solidFill>
                  <a:srgbClr val="dbf5f9"/>
                </a:solidFill>
                <a:latin typeface="Source Sans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393E15-5889-43FC-A936-18E97A656E93}" type="slidenum">
              <a:rPr b="0" lang="fr-FR" sz="2400" spc="-1" strike="noStrike">
                <a:solidFill>
                  <a:srgbClr val="dbf5f9"/>
                </a:solidFill>
                <a:latin typeface="Source Sans Pro"/>
              </a:rPr>
              <a:t>8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450000" y="5130000"/>
            <a:ext cx="2333880" cy="443880"/>
          </a:xfrm>
          <a:prstGeom prst="rect">
            <a:avLst/>
          </a:prstGeom>
          <a:noFill/>
          <a:ln w="0">
            <a:solidFill>
              <a:srgbClr val="808080"/>
            </a:solidFill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flipV="1">
            <a:off x="0" y="-6480"/>
            <a:ext cx="10073880" cy="107388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5400000" dist="108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fr-FR" sz="2200" spc="-1" strike="noStrike">
              <a:solidFill>
                <a:srgbClr val="000000"/>
              </a:solidFill>
              <a:latin typeface="Source Sans Pro"/>
              <a:ea typeface="DejaVu Sans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61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"/>
          </a:bodyPr>
          <a:p>
            <a:pPr marL="30240" indent="-2268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60480" indent="-2268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90720" indent="-2016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20960" indent="-1512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151200" indent="-15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181440" indent="-15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211680" indent="-15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511200" y="1326600"/>
            <a:ext cx="61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"/>
          </a:bodyPr>
          <a:p>
            <a:pPr marL="30240" indent="-2268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60480" indent="-2268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90720" indent="-2016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20960" indent="-1512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151200" indent="-15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181440" indent="-15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211680" indent="-15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4"/>
          </p:nvPr>
        </p:nvSpPr>
        <p:spPr>
          <a:xfrm>
            <a:off x="3420000" y="5130000"/>
            <a:ext cx="3233880" cy="44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2400" spc="-1" strike="noStrike">
                <a:solidFill>
                  <a:srgbClr val="484848"/>
                </a:solidFill>
                <a:latin typeface="Source Sans Pro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484848"/>
                </a:solidFill>
                <a:latin typeface="Source Sans Pro"/>
              </a:rPr>
              <a:t>&lt;footer&gt;</a:t>
            </a:r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5"/>
          </p:nvPr>
        </p:nvSpPr>
        <p:spPr>
          <a:xfrm>
            <a:off x="7200000" y="5130000"/>
            <a:ext cx="2333880" cy="44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2400" spc="-1" strike="noStrike">
                <a:solidFill>
                  <a:srgbClr val="484848"/>
                </a:solidFill>
                <a:latin typeface="Source Sans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408109-5081-4EFA-B0BE-315E46CD52D8}" type="slidenum">
              <a:rPr b="0" lang="fr-FR" sz="2400" spc="-1" strike="noStrike">
                <a:solidFill>
                  <a:srgbClr val="484848"/>
                </a:solidFill>
                <a:latin typeface="Source Sans Pro"/>
              </a:rPr>
              <a:t>&lt;number&gt;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dt" idx="6"/>
          </p:nvPr>
        </p:nvSpPr>
        <p:spPr>
          <a:xfrm>
            <a:off x="540000" y="5130000"/>
            <a:ext cx="2333880" cy="44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flipV="1">
            <a:off x="0" y="-5760"/>
            <a:ext cx="10074240" cy="107424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5400000" dist="108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fr-FR" sz="2200" spc="-1" strike="noStrike">
              <a:solidFill>
                <a:srgbClr val="000000"/>
              </a:solidFill>
              <a:latin typeface="Source Sans Pro"/>
              <a:ea typeface="DejaVu Sans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68400" cy="94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61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"/>
          </a:bodyPr>
          <a:p>
            <a:pPr marL="30240" indent="-2268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60480" indent="-2268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90720" indent="-2016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20960" indent="-1512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151200" indent="-15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181440" indent="-15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211680" indent="-15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511200" y="1326600"/>
            <a:ext cx="61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"/>
          </a:bodyPr>
          <a:p>
            <a:pPr marL="30240" indent="-2268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60480" indent="-2268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90720" indent="-2016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20960" indent="-1512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151200" indent="-15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181440" indent="-15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211680" indent="-1512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 idx="7"/>
          </p:nvPr>
        </p:nvSpPr>
        <p:spPr>
          <a:xfrm>
            <a:off x="3420000" y="5130000"/>
            <a:ext cx="3234240" cy="44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2400" spc="-1" strike="noStrike">
                <a:solidFill>
                  <a:srgbClr val="484848"/>
                </a:solidFill>
                <a:latin typeface="Source Sans Pro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484848"/>
                </a:solidFill>
                <a:latin typeface="Source Sans Pro"/>
              </a:rPr>
              <a:t>&lt;footer&gt;</a:t>
            </a:r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8"/>
          </p:nvPr>
        </p:nvSpPr>
        <p:spPr>
          <a:xfrm>
            <a:off x="7200000" y="5130000"/>
            <a:ext cx="2334240" cy="44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2400" spc="-1" strike="noStrike">
                <a:solidFill>
                  <a:srgbClr val="484848"/>
                </a:solidFill>
                <a:latin typeface="Source Sans Pr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9D6F58-6FBA-4EFB-9CCC-934C30C5EDF6}" type="slidenum">
              <a:rPr b="0" lang="fr-FR" sz="2400" spc="-1" strike="noStrike">
                <a:solidFill>
                  <a:srgbClr val="484848"/>
                </a:solidFill>
                <a:latin typeface="Source Sans Pro"/>
              </a:rPr>
              <a:t>&lt;number&gt;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dt" idx="9"/>
          </p:nvPr>
        </p:nvSpPr>
        <p:spPr>
          <a:xfrm>
            <a:off x="540000" y="5130000"/>
            <a:ext cx="2334240" cy="44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177840" cy="323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4800" spc="-1" strike="noStrike">
                <a:solidFill>
                  <a:srgbClr val="04617b"/>
                </a:solidFill>
                <a:latin typeface="Source Sans Pro Light"/>
              </a:rPr>
              <a:t>Bitmap Manager</a:t>
            </a:r>
            <a:br>
              <a:rPr sz="6000"/>
            </a:br>
            <a:r>
              <a:rPr b="1" lang="fr-FR" sz="4400" spc="-1" strike="noStrike">
                <a:solidFill>
                  <a:srgbClr val="04617b"/>
                </a:solidFill>
                <a:latin typeface="Source Sans Pro Light"/>
              </a:rPr>
              <a:t>C/C++ advanced Project</a:t>
            </a:r>
            <a:br>
              <a:rPr sz="6000"/>
            </a:br>
            <a:r>
              <a:rPr b="1" lang="fr-FR" sz="4800" spc="-1" strike="noStrike">
                <a:solidFill>
                  <a:srgbClr val="04617b"/>
                </a:solidFill>
                <a:latin typeface="wfont;d64795ab62d4541b4faa964980ea781"/>
              </a:rPr>
              <a:t>     </a:t>
            </a:r>
            <a:r>
              <a:rPr b="1" lang="fr-FR" sz="6000" spc="-1" strike="noStrike">
                <a:solidFill>
                  <a:srgbClr val="04617b"/>
                </a:solidFill>
                <a:latin typeface="Source Sans Pro Light"/>
              </a:rPr>
              <a:t> </a:t>
            </a:r>
            <a:endParaRPr b="0" lang="fr-FR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450000" y="3870000"/>
            <a:ext cx="8993880" cy="1163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700" spc="-1" strike="noStrike">
                <a:solidFill>
                  <a:srgbClr val="dbf5f9"/>
                </a:solidFill>
                <a:latin typeface="Source Sans Pro"/>
              </a:rPr>
              <a:t>Your Name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2700" spc="-1" strike="noStrike">
                <a:solidFill>
                  <a:srgbClr val="dbf5f9"/>
                </a:solidFill>
                <a:latin typeface="Source Sans Pro"/>
              </a:rPr>
              <a:t>2024-2025, Master of Computer Sciences, EPITA</a:t>
            </a:r>
            <a:endParaRPr b="0" lang="fr-FR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68000" y="0"/>
            <a:ext cx="9067680" cy="94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4500" spc="-1" strike="noStrike">
                <a:solidFill>
                  <a:srgbClr val="ffffff"/>
                </a:solidFill>
                <a:latin typeface="Source Sans Pro Light"/>
              </a:rPr>
              <a:t>Project Statement</a:t>
            </a:r>
            <a:endParaRPr b="0" lang="fr-FR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81331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2000"/>
          </a:bodyPr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Goal 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Develop a simple command-line based bitmap image (.bmp) editor in C  allowing to perform simple image processing thanks to a functions menu, among which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155520" indent="-15552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image copy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155520" indent="-15552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contrast &amp; luminosity change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155520" indent="-15552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image flipping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155520" indent="-15552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...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68000" y="0"/>
            <a:ext cx="9068040" cy="94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4500" spc="-1" strike="noStrike">
                <a:solidFill>
                  <a:srgbClr val="ffffff"/>
                </a:solidFill>
                <a:latin typeface="Source Sans Pro Light"/>
              </a:rPr>
              <a:t>Project Context</a:t>
            </a:r>
            <a:endParaRPr b="0" lang="fr-FR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4200" cy="40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Freshly graduated from EPITA, you are hired as a Software Engineer at « SoftImage» Company, which has developed a «BitMap Photo Editor». Your mission : replace the developer, who has resigned to pursue other interests. You are given the code « as is », it was released to some customers for evaluation. so a final version is urgently needed. You cannot meet the developer as he left the company. Your job as defined by your Manager 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196560" indent="-19656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take over control of the code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196560" indent="-19656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Harden it to make it more reliable, avoid multiple crashes and errors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196560" indent="-19656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Extend system features to make product attractive and useful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196560" indent="-19656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Continuously improve code comments, structure, and documentation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68000" y="0"/>
            <a:ext cx="9067680" cy="94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4500" spc="-1" strike="noStrike">
                <a:solidFill>
                  <a:srgbClr val="ffffff"/>
                </a:solidFill>
                <a:latin typeface="Source Sans Pro Light"/>
              </a:rPr>
              <a:t>Existing Features</a:t>
            </a:r>
            <a:endParaRPr b="0" lang="fr-FR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8133120" cy="32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129600" indent="-12960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Read an image (bitmap file) and display image information (resolution, size)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129600" indent="-12960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Copy / save image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129600" indent="-12960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Change luminosity (contrast) of the image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129600" indent="-12960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Remove specified color channel (R/G/B) from the image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129600" indent="-12960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Apply inversion filter to an input image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129600" indent="-12960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quantize image (Quantization scale 0-7)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129600" indent="-12960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flip image horizontally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129600" indent="-12960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[EXPERIMENTAL] Crop image to specified dimensions.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68000" y="0"/>
            <a:ext cx="9067680" cy="94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4500" spc="-1" strike="noStrike">
                <a:solidFill>
                  <a:srgbClr val="ffffff"/>
                </a:solidFill>
                <a:latin typeface="Source Sans Pro Light"/>
              </a:rPr>
              <a:t>New Features</a:t>
            </a:r>
            <a:endParaRPr b="0" lang="fr-FR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3840" cy="407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  <a:ea typeface="Microsoft YaHei"/>
              </a:rPr>
              <a:t>Once you have understood the code logic and content, you must assess which features would bring a significant plus and at which development cost. Among them you could identify: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  <a:ea typeface="Microsoft YaHei"/>
              </a:rPr>
              <a:t>Test on various BMP pictures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  <a:ea typeface="Microsoft YaHei"/>
              </a:rPr>
              <a:t>Add image rotation (+/-90deg, 180deg) 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  <a:ea typeface="Microsoft YaHei"/>
              </a:rPr>
              <a:t>Fix crop feature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  <a:ea typeface="Microsoft YaHei"/>
              </a:rPr>
              <a:t>Etc… to be defined 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68000" y="0"/>
            <a:ext cx="9068040" cy="94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4500" spc="-1" strike="noStrike">
                <a:solidFill>
                  <a:srgbClr val="ffffff"/>
                </a:solidFill>
                <a:latin typeface="Source Sans Pro Light"/>
              </a:rPr>
              <a:t>Features prioritization </a:t>
            </a:r>
            <a:endParaRPr b="0" lang="fr-FR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4200" cy="40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2000"/>
          </a:bodyPr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You have a list of needed features, but you will NEVER be able to develop ALL ! To choose those to be developed, you will assign them 2 parameters values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155520" indent="-15552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fr-FR" sz="2200" spc="-1" strike="noStrike">
                <a:solidFill>
                  <a:srgbClr val="000000"/>
                </a:solidFill>
                <a:latin typeface="Arial"/>
              </a:rPr>
              <a:t>Criticality</a:t>
            </a: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 - how much critical it is : 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1 = MUST HAVE (otherwise product cannot be commercial)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2 = SHOULD HAVE (product can be commercial without but feature will be missed)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3 = Nice to have – product will be more convenient, useful, etc.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155520" indent="-155520" algn="just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fr-FR" sz="2200" spc="-1" strike="noStrike">
                <a:solidFill>
                  <a:srgbClr val="000000"/>
                </a:solidFill>
                <a:latin typeface="Arial"/>
              </a:rPr>
              <a:t>Feasibility</a:t>
            </a: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 – how easy or difficult this feature is to implement : 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1 = Easy – feature does not present any difficulty, does not challenge current design and architecture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2 = Doable at significant cost – feature can be implemented with amount of work, at some limited risk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3 = Not doable with current Product architecture &amp; Design AND/OR not doable within time/work .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68000" y="0"/>
            <a:ext cx="9068040" cy="94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4500" spc="-1" strike="noStrike">
                <a:solidFill>
                  <a:srgbClr val="ffffff"/>
                </a:solidFill>
                <a:latin typeface="Source Sans Pro Light"/>
              </a:rPr>
              <a:t>New Features prioritization : decision </a:t>
            </a:r>
            <a:endParaRPr b="0" lang="fr-FR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4200" cy="40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Typical decision algorithm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- 1 (Critical) AND 1 (Easy) : GO FOR IT !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- 3 (Nice to have) AND 3 (not doable) : DON’T EVEN TRY !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- IN BETWEEN : DISCUSS AND DECIDE with Mgt and/or Customers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68000" y="0"/>
            <a:ext cx="9068040" cy="94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4500" spc="-1" strike="noStrike">
                <a:solidFill>
                  <a:srgbClr val="ffffff"/>
                </a:solidFill>
                <a:latin typeface="Source Sans Pro Light"/>
              </a:rPr>
              <a:t>Project expected Deliverables</a:t>
            </a:r>
            <a:endParaRPr b="0" lang="fr-FR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4200" cy="407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- Visual Studio (or equivalent) updated Project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- Requirements &amp; Specification Document (slides OK)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Arial"/>
              </a:rPr>
              <a:t>- Presentation to the class on December 10th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 algn="just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16649</TotalTime>
  <Application>LibreOffice/7.5.9.2$Windows_X86_64 LibreOffice_project/cdeefe45c17511d326101eed8008ac4092f278a9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2024-09-03T10:27:16Z</dcterms:created>
  <dc:creator/>
  <dc:description/>
  <dc:language>fr-FR</dc:language>
  <cp:lastModifiedBy/>
  <dcterms:modified xsi:type="dcterms:W3CDTF">2024-10-17T10:09:56Z</dcterms:modified>
  <cp:revision>89</cp:revision>
  <dc:subject/>
  <dc:title>Vivid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